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Consciousness Science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96B8"/>
                </a:solidFill>
              </a:defRPr>
            </a:pPr>
            <a:r>
              <a:t>Finance Committee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AACC"/>
                </a:solidFill>
              </a:defRPr>
            </a:pPr>
            <a:r>
              <a:t>March 2026  •  Paradise Point Resort &amp; Spa, San Diego  •  October 11–16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88AA"/>
                </a:solidFill>
              </a:defRPr>
            </a:pPr>
            <a:r>
              <a:t>Prepared for IONS Finance Committee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2440"/>
                </a:solidFill>
              </a:defRPr>
            </a:pPr>
            <a:r>
              <a:t>Operating Model: Minimal IONS Admin Involvement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96B8"/>
                </a:solidFill>
              </a:defRPr>
            </a:pPr>
            <a:r>
              <a:t>Current Approach (Scenario 1–2)</a:t>
            </a:r>
          </a:p>
          <a:p>
            <a:pPr>
              <a:spcBef>
                <a:spcPts val="400"/>
              </a:spcBef>
              <a:defRPr sz="1600" b="0">
                <a:solidFill>
                  <a:srgbClr val="222222"/>
                </a:solidFill>
              </a:defRPr>
            </a:pPr>
            <a:r>
              <a:t>IONS acts as 501(c)(3) fiscal sponsor</a:t>
            </a:r>
          </a:p>
          <a:p>
            <a:pPr>
              <a:spcBef>
                <a:spcPts val="400"/>
              </a:spcBef>
              <a:defRPr sz="1600" b="0">
                <a:solidFill>
                  <a:srgbClr val="222222"/>
                </a:solidFill>
              </a:defRPr>
            </a:pPr>
            <a:r>
              <a:t>Conference organized by independent committee: Delorme (Chair), Schneider, Brophy (Co-Chairs)</a:t>
            </a:r>
          </a:p>
          <a:p>
            <a:pPr>
              <a:spcBef>
                <a:spcPts val="400"/>
              </a:spcBef>
              <a:defRPr sz="1600" b="0">
                <a:solidFill>
                  <a:srgbClr val="222222"/>
                </a:solidFill>
              </a:defRPr>
            </a:pPr>
            <a:r>
              <a:t>Abi Behar-Montefiore as operations consultant (not IONS staff)</a:t>
            </a:r>
          </a:p>
          <a:p>
            <a:pPr>
              <a:spcBef>
                <a:spcPts val="400"/>
              </a:spcBef>
              <a:defRPr sz="1600" b="0">
                <a:solidFill>
                  <a:srgbClr val="222222"/>
                </a:solidFill>
              </a:defRPr>
            </a:pPr>
            <a:r>
              <a:t>UCSD hosts website; faculty on science committee</a:t>
            </a:r>
          </a:p>
          <a:p>
            <a:pPr>
              <a:spcBef>
                <a:spcPts val="400"/>
              </a:spcBef>
              <a:defRPr sz="1600" b="0">
                <a:solidFill>
                  <a:srgbClr val="222222"/>
                </a:solidFill>
              </a:defRPr>
            </a:pPr>
            <a:r>
              <a:t>IONS involvement: accounting, reimbursements (~1–2 staff part-time)</a:t>
            </a:r>
          </a:p>
          <a:p>
            <a:pPr>
              <a:spcBef>
                <a:spcPts val="400"/>
              </a:spcBef>
              <a:defRPr sz="1600" b="1">
                <a:solidFill>
                  <a:srgbClr val="222222"/>
                </a:solidFill>
              </a:defRPr>
            </a:pPr>
            <a:r>
              <a:t>No dedicated IONS production or E&amp;E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If IONS E&amp;E Were Involved</a:t>
            </a:r>
          </a:p>
          <a:p>
            <a:pPr>
              <a:spcBef>
                <a:spcPts val="400"/>
              </a:spcBef>
              <a:defRPr sz="1600" b="1">
                <a:solidFill>
                  <a:srgbClr val="222222"/>
                </a:solidFill>
              </a:defRPr>
            </a:pPr>
            <a:r>
              <a:t>E&amp;E preparation &amp; production: $174,000</a:t>
            </a:r>
          </a:p>
          <a:p>
            <a:pPr>
              <a:spcBef>
                <a:spcPts val="400"/>
              </a:spcBef>
              <a:defRPr sz="1600" b="1">
                <a:solidFill>
                  <a:srgbClr val="222222"/>
                </a:solidFill>
              </a:defRPr>
            </a:pPr>
            <a:r>
              <a:t>Staff travel + booth setup: $35,000</a:t>
            </a:r>
          </a:p>
          <a:p>
            <a:pPr>
              <a:spcBef>
                <a:spcPts val="400"/>
              </a:spcBef>
              <a:defRPr sz="1800" b="1">
                <a:solidFill>
                  <a:srgbClr val="C0392B"/>
                </a:solidFill>
              </a:defRPr>
            </a:pPr>
            <a:r>
              <a:t>Total additional cost: $209,000</a:t>
            </a:r>
          </a:p>
          <a:p>
            <a:pPr>
              <a:spcBef>
                <a:spcPts val="400"/>
              </a:spcBef>
              <a:defRPr sz="800" b="0">
                <a:solidFill>
                  <a:srgbClr val="222222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7AE60"/>
                </a:solidFill>
              </a:defRPr>
            </a:pPr>
            <a:r>
              <a:t>Current model avoids this entirely</a:t>
            </a:r>
          </a:p>
          <a:p>
            <a:pPr>
              <a:spcBef>
                <a:spcPts val="400"/>
              </a:spcBef>
              <a:defRPr sz="1600" b="0">
                <a:solidFill>
                  <a:srgbClr val="222222"/>
                </a:solidFill>
              </a:defRPr>
            </a:pPr>
            <a:r>
              <a:t>IONS financial exposure limited to fiscal sponsorship risk</a:t>
            </a:r>
          </a:p>
          <a:p>
            <a:pPr>
              <a:spcBef>
                <a:spcPts val="400"/>
              </a:spcBef>
              <a:defRPr sz="1600" b="0">
                <a:solidFill>
                  <a:srgbClr val="222222"/>
                </a:solidFill>
              </a:defRPr>
            </a:pPr>
            <a:r>
              <a:t>Committee bears operational responsibility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2440"/>
                </a:solidFill>
              </a:defRPr>
            </a:pPr>
            <a:r>
              <a:t>Budget Overview — Expected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</a:defRPr>
            </a:pPr>
            <a:r>
              <a:t>INCOME</a:t>
            </a:r>
          </a:p>
          <a:p>
            <a:pPr>
              <a:spcBef>
                <a:spcPts val="400"/>
              </a:spcBef>
              <a:defRPr sz="1400" b="0">
                <a:solidFill>
                  <a:srgbClr val="222222"/>
                </a:solidFill>
              </a:defRPr>
            </a:pPr>
            <a:r>
              <a:t>In-person tickets  (550 × $550)  . . .  $302,500</a:t>
            </a:r>
          </a:p>
          <a:p>
            <a:pPr>
              <a:spcBef>
                <a:spcPts val="400"/>
              </a:spcBef>
              <a:defRPr sz="1400" b="0">
                <a:solidFill>
                  <a:srgbClr val="222222"/>
                </a:solidFill>
              </a:defRPr>
            </a:pPr>
            <a:r>
              <a:t>Student passes  (50 × $500)  . . .  $25,000</a:t>
            </a:r>
          </a:p>
          <a:p>
            <a:pPr>
              <a:spcBef>
                <a:spcPts val="400"/>
              </a:spcBef>
              <a:defRPr sz="1400" b="0">
                <a:solidFill>
                  <a:srgbClr val="222222"/>
                </a:solidFill>
              </a:defRPr>
            </a:pPr>
            <a:r>
              <a:t>Day passes  (50 × $250)  . . .  $12,500</a:t>
            </a:r>
          </a:p>
          <a:p>
            <a:pPr>
              <a:spcBef>
                <a:spcPts val="400"/>
              </a:spcBef>
              <a:defRPr sz="1400" b="0">
                <a:solidFill>
                  <a:srgbClr val="222222"/>
                </a:solidFill>
              </a:defRPr>
            </a:pPr>
            <a:r>
              <a:t>Online tickets  (100 × $118)  . . .  $11,800</a:t>
            </a:r>
          </a:p>
          <a:p>
            <a:pPr>
              <a:spcBef>
                <a:spcPts val="400"/>
              </a:spcBef>
              <a:defRPr sz="1400" b="0">
                <a:solidFill>
                  <a:srgbClr val="222222"/>
                </a:solidFill>
              </a:defRPr>
            </a:pPr>
            <a:r>
              <a:t>Thursday dinner  (200 × $150)  . . .  $30,000</a:t>
            </a:r>
          </a:p>
          <a:p>
            <a:pPr>
              <a:spcBef>
                <a:spcPts val="400"/>
              </a:spcBef>
              <a:defRPr sz="1400" b="0">
                <a:solidFill>
                  <a:srgbClr val="222222"/>
                </a:solidFill>
              </a:defRPr>
            </a:pPr>
            <a:r>
              <a:t>Exhibitor booths  (15 × $2,500)  . . .  $37,500</a:t>
            </a:r>
          </a:p>
          <a:p>
            <a:pPr>
              <a:spcBef>
                <a:spcPts val="400"/>
              </a:spcBef>
              <a:defRPr sz="1400" b="0">
                <a:solidFill>
                  <a:srgbClr val="222222"/>
                </a:solidFill>
              </a:defRPr>
            </a:pPr>
            <a:r>
              <a:t>Sponsorships  (Target)  . . .  $0*</a:t>
            </a:r>
          </a:p>
          <a:p>
            <a:pPr>
              <a:spcBef>
                <a:spcPts val="400"/>
              </a:spcBef>
              <a:defRPr sz="600" b="0">
                <a:solidFill>
                  <a:srgbClr val="222222"/>
                </a:solidFill>
              </a:defRPr>
            </a:pPr>
          </a:p>
          <a:p>
            <a:pPr>
              <a:spcBef>
                <a:spcPts val="400"/>
              </a:spcBef>
              <a:defRPr sz="1800" b="1">
                <a:solidFill>
                  <a:srgbClr val="27AE60"/>
                </a:solidFill>
              </a:defRPr>
            </a:pPr>
            <a:r>
              <a:t>TOTAL INCOME:  $419,300</a:t>
            </a:r>
          </a:p>
          <a:p>
            <a:pPr>
              <a:spcBef>
                <a:spcPts val="400"/>
              </a:spcBef>
              <a:defRPr sz="1200" b="0">
                <a:solidFill>
                  <a:srgbClr val="666666"/>
                </a:solidFill>
              </a:defRPr>
            </a:pPr>
            <a:r>
              <a:t>* Sponsorships shown at $0 in base budget (conservative)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EXPENSES</a:t>
            </a:r>
          </a:p>
          <a:p>
            <a:pPr>
              <a:spcBef>
                <a:spcPts val="400"/>
              </a:spcBef>
              <a:defRPr sz="1400" b="0">
                <a:solidFill>
                  <a:srgbClr val="222222"/>
                </a:solidFill>
              </a:defRPr>
            </a:pPr>
            <a:r>
              <a:t>Food &amp; beverage (incl. service + tax)  . . .  $202,900</a:t>
            </a:r>
          </a:p>
          <a:p>
            <a:pPr>
              <a:spcBef>
                <a:spcPts val="400"/>
              </a:spcBef>
              <a:defRPr sz="1400" b="0">
                <a:solidFill>
                  <a:srgbClr val="222222"/>
                </a:solidFill>
              </a:defRPr>
            </a:pPr>
            <a:r>
              <a:t>A/V + post-production  . . .  $95,500</a:t>
            </a:r>
          </a:p>
          <a:p>
            <a:pPr>
              <a:spcBef>
                <a:spcPts val="400"/>
              </a:spcBef>
              <a:defRPr sz="1400" b="0">
                <a:solidFill>
                  <a:srgbClr val="222222"/>
                </a:solidFill>
              </a:defRPr>
            </a:pPr>
            <a:r>
              <a:t>Hired consultant (operations)  . . .  $45,000</a:t>
            </a:r>
          </a:p>
          <a:p>
            <a:pPr>
              <a:spcBef>
                <a:spcPts val="400"/>
              </a:spcBef>
              <a:defRPr sz="1400" b="0">
                <a:solidFill>
                  <a:srgbClr val="222222"/>
                </a:solidFill>
              </a:defRPr>
            </a:pPr>
            <a:r>
              <a:t>Speaker transport + lodging (25)  . . .  $62,500</a:t>
            </a:r>
          </a:p>
          <a:p>
            <a:pPr>
              <a:spcBef>
                <a:spcPts val="400"/>
              </a:spcBef>
              <a:defRPr sz="1400" b="0">
                <a:solidFill>
                  <a:srgbClr val="222222"/>
                </a:solidFill>
              </a:defRPr>
            </a:pPr>
            <a:r>
              <a:t>Badges, signage, abstracts system  . . .  $6,890</a:t>
            </a:r>
          </a:p>
          <a:p>
            <a:pPr>
              <a:spcBef>
                <a:spcPts val="400"/>
              </a:spcBef>
              <a:defRPr sz="1400" b="0">
                <a:solidFill>
                  <a:srgbClr val="222222"/>
                </a:solidFill>
              </a:defRPr>
            </a:pPr>
            <a:r>
              <a:t>Venue room rental  . . .  $0 (covered by room block)</a:t>
            </a:r>
          </a:p>
          <a:p>
            <a:pPr>
              <a:spcBef>
                <a:spcPts val="400"/>
              </a:spcBef>
              <a:defRPr sz="600" b="0">
                <a:solidFill>
                  <a:srgbClr val="222222"/>
                </a:solidFill>
              </a:defRPr>
            </a:pPr>
          </a:p>
          <a:p>
            <a:pPr>
              <a:spcBef>
                <a:spcPts val="400"/>
              </a:spcBef>
              <a:defRPr sz="1800" b="1">
                <a:solidFill>
                  <a:srgbClr val="C0392B"/>
                </a:solidFill>
              </a:defRPr>
            </a:pPr>
            <a:r>
              <a:t>TOTAL EXPENSES:  $412,790</a:t>
            </a:r>
          </a:p>
          <a:p>
            <a:pPr>
              <a:spcBef>
                <a:spcPts val="400"/>
              </a:spcBef>
              <a:defRPr sz="1000" b="0">
                <a:solidFill>
                  <a:srgbClr val="222222"/>
                </a:solidFill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0A2440"/>
                </a:solidFill>
              </a:defRPr>
            </a:pPr>
            <a:r>
              <a:t>PROJECTED SURPLUS:  $6,510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Note: Budget workbook is being expanded to three scenarios — Expected (shown above), Worst Case, and Best Case.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2440"/>
                </a:solidFill>
              </a:defRPr>
            </a:pPr>
            <a:r>
              <a:t>Funding Pipeline — Beyond Ticket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</a:defRPr>
            </a:pPr>
            <a:r>
              <a:t>Confirmed: Cyan Banister — $50,000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Angel investor (Long Journey Ventures, ex-Founders Fund)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Early backer of Uber, SpaceX, DeepMind, Affirm</a:t>
            </a:r>
          </a:p>
          <a:p>
            <a:pPr>
              <a:spcBef>
                <a:spcPts val="400"/>
              </a:spcBef>
              <a:defRPr sz="1500" b="1">
                <a:solidFill>
                  <a:srgbClr val="222222"/>
                </a:solidFill>
              </a:defRPr>
            </a:pPr>
            <a:r>
              <a:t>Passed full 7-step donor vetting protocol</a:t>
            </a:r>
          </a:p>
          <a:p>
            <a:pPr>
              <a:spcBef>
                <a:spcPts val="400"/>
              </a:spcBef>
              <a:defRPr sz="1500" b="1">
                <a:solidFill>
                  <a:srgbClr val="27AE60"/>
                </a:solidFill>
              </a:defRPr>
            </a:pPr>
            <a:r>
              <a:t>Risk score: 0 (no concerns)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No Epstein association; no criminal/legal/reputation flags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Pledge submitted; funds to be processed via 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A727"/>
                </a:solidFill>
              </a:defRPr>
            </a:pPr>
            <a:r>
              <a:t>Pending: University of Arizona — &gt;$100,000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Wire transfer of remaining TSC funds from UA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Amount in excess of $100,000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Pending formal transfer agreement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Part of TSC brand transition to IONS</a:t>
            </a:r>
          </a:p>
          <a:p>
            <a:pPr>
              <a:spcBef>
                <a:spcPts val="400"/>
              </a:spcBef>
              <a:defRPr sz="1500" b="1">
                <a:solidFill>
                  <a:srgbClr val="222222"/>
                </a:solidFill>
              </a:defRPr>
            </a:pPr>
            <a:r>
              <a:t>Requires written commitment from UA representatives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2440"/>
                </a:solidFill>
              </a:defRPr>
            </a:pPr>
            <a:r>
              <a:t>Impact on Budget</a:t>
            </a:r>
          </a:p>
          <a:p>
            <a:pPr>
              <a:spcBef>
                <a:spcPts val="400"/>
              </a:spcBef>
              <a:defRPr sz="1600" b="0">
                <a:solidFill>
                  <a:srgbClr val="222222"/>
                </a:solidFill>
              </a:defRPr>
            </a:pPr>
            <a:r>
              <a:t>Base budget surplus (tickets + ops only): $6,510</a:t>
            </a:r>
          </a:p>
          <a:p>
            <a:pPr>
              <a:spcBef>
                <a:spcPts val="400"/>
              </a:spcBef>
              <a:defRPr sz="1600" b="1">
                <a:solidFill>
                  <a:srgbClr val="27AE60"/>
                </a:solidFill>
              </a:defRPr>
            </a:pPr>
            <a:r>
              <a:t>With Banister donation: +$50,000 → surplus ~$56,510</a:t>
            </a:r>
          </a:p>
          <a:p>
            <a:pPr>
              <a:spcBef>
                <a:spcPts val="400"/>
              </a:spcBef>
              <a:defRPr sz="1600" b="1">
                <a:solidFill>
                  <a:srgbClr val="27AE60"/>
                </a:solidFill>
              </a:defRPr>
            </a:pPr>
            <a:r>
              <a:t>With UA transfer: +$100,000+ → surplus ~$156,510+</a:t>
            </a:r>
          </a:p>
          <a:p>
            <a:pPr>
              <a:spcBef>
                <a:spcPts val="400"/>
              </a:spcBef>
              <a:defRPr sz="1400" b="0">
                <a:solidFill>
                  <a:srgbClr val="666666"/>
                </a:solidFill>
              </a:defRPr>
            </a:pPr>
            <a:r>
              <a:t>These funds provide a critical safety margin against attendance shortfalls and also position the conference to offer speaker support, enhanced A/V, and seed a reserve for future years.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2440"/>
                </a:solidFill>
              </a:defRPr>
            </a:pPr>
            <a:r>
              <a:t>Donor &amp; Speaker Vetting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</a:defRPr>
            </a:pPr>
            <a:r>
              <a:t>Epstein Disclosure (Published on Website)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TSC received $50K from Epstein in 2017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Several prior speakers/organizers named in Epstein files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Former director acknowledged connections; cancelled original TSC 2026</a:t>
            </a:r>
          </a:p>
          <a:p>
            <a:pPr>
              <a:spcBef>
                <a:spcPts val="400"/>
              </a:spcBef>
              <a:defRPr sz="1500" b="1">
                <a:solidFill>
                  <a:srgbClr val="222222"/>
                </a:solidFill>
              </a:defRPr>
            </a:pPr>
            <a:r>
              <a:t>CS 2026 reorganized under new leadership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Full transparency statement published at vetting.html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96B8"/>
                </a:solidFill>
              </a:defRPr>
            </a:pPr>
            <a:r>
              <a:t>7-Step Automated Screening Protocol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1. Identity Resolution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2. Criminal &amp; Legal History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3. High-Risk Figure Association (incl. Epstein)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4. Reputation Risk Screening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5. Philanthropy &amp; Institutional Relationships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6. Political Exposure &amp; Sanctions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7. Summary Risk Scoring (0–3 scale)</a:t>
            </a:r>
          </a:p>
          <a:p>
            <a:pPr>
              <a:spcBef>
                <a:spcPts val="400"/>
              </a:spcBef>
              <a:defRPr sz="600" b="0">
                <a:solidFill>
                  <a:srgbClr val="222222"/>
                </a:solidFill>
              </a:defRPr>
            </a:pPr>
          </a:p>
          <a:p>
            <a:pPr>
              <a:spcBef>
                <a:spcPts val="400"/>
              </a:spcBef>
              <a:defRPr sz="1500" b="1">
                <a:solidFill>
                  <a:srgbClr val="C0392B"/>
                </a:solidFill>
              </a:defRPr>
            </a:pPr>
            <a:r>
              <a:t>Score ≥ 1 triggers committee review</a:t>
            </a:r>
          </a:p>
          <a:p>
            <a:pPr>
              <a:spcBef>
                <a:spcPts val="400"/>
              </a:spcBef>
              <a:defRPr sz="1500" b="1">
                <a:solidFill>
                  <a:srgbClr val="C0392B"/>
                </a:solidFill>
              </a:defRPr>
            </a:pPr>
            <a:r>
              <a:t>All Epstein-related results auto-escalated</a:t>
            </a:r>
          </a:p>
          <a:p>
            <a:pPr>
              <a:spcBef>
                <a:spcPts val="400"/>
              </a:spcBef>
              <a:defRPr sz="1500" b="1">
                <a:solidFill>
                  <a:srgbClr val="27AE60"/>
                </a:solidFill>
              </a:defRPr>
            </a:pPr>
            <a:r>
              <a:t>Cyan Banister: first donor vetted — score 0 (clear)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2440"/>
                </a:solidFill>
              </a:defRPr>
            </a:pPr>
            <a:r>
              <a:t>Key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Risks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Attendance shortfall — Epstein fallout may deter some attendees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Sponsorship target currently $0 in base budget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Hotel attrition penalty ($459K) if room block not met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Aggressive timeline for Oct 2026 with new team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Speaker reconfirmation still in progress (6 pending)</a:t>
            </a:r>
          </a:p>
          <a:p>
            <a:pPr>
              <a:spcBef>
                <a:spcPts val="400"/>
              </a:spcBef>
              <a:defRPr sz="1500" b="1">
                <a:solidFill>
                  <a:srgbClr val="C0392B"/>
                </a:solidFill>
              </a:defRPr>
            </a:pPr>
            <a:r>
              <a:t>Worst-case loss scenario: ~$250K (per discernment doc)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</a:defRPr>
            </a:pPr>
            <a:r>
              <a:t>Mitigations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Attrition covered by participant bookings (net $0)</a:t>
            </a:r>
          </a:p>
          <a:p>
            <a:pPr>
              <a:spcBef>
                <a:spcPts val="400"/>
              </a:spcBef>
              <a:defRPr sz="1500" b="1">
                <a:solidFill>
                  <a:srgbClr val="222222"/>
                </a:solidFill>
              </a:defRPr>
            </a:pPr>
            <a:r>
              <a:t>Banister $50K + UA $100K+ provide &gt;$150K safety margin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Published vetting protocol and Epstein disclosure build trust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UCSD faculty endorsement via co-hosting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New leadership (Delorme as Chair) distances from past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Budget being expanded to 3 scenarios (expected/worst/best)</a:t>
            </a:r>
          </a:p>
          <a:p>
            <a:pPr>
              <a:spcBef>
                <a:spcPts val="400"/>
              </a:spcBef>
              <a:defRPr sz="1500" b="0">
                <a:solidFill>
                  <a:srgbClr val="222222"/>
                </a:solidFill>
              </a:defRPr>
            </a:pPr>
            <a:r>
              <a:t>Minimal IONS admin avoids $209K in E&amp;E costs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800" b="0">
                <a:solidFill>
                  <a:srgbClr val="FFFFFF"/>
                </a:solidFill>
              </a:defRPr>
            </a:pPr>
            <a:r>
              <a:t>Finalize budget workbook with 3 scenarios (expected / worst / best)</a:t>
            </a:r>
          </a:p>
          <a:p>
            <a:pPr>
              <a:spcBef>
                <a:spcPts val="400"/>
              </a:spcBef>
              <a:defRPr sz="1800" b="0">
                <a:solidFill>
                  <a:srgbClr val="FFFFFF"/>
                </a:solidFill>
              </a:defRPr>
            </a:pPr>
            <a:r>
              <a:t>Execute UA fund transfer (&gt;$100K) — requires written agreement</a:t>
            </a:r>
          </a:p>
          <a:p>
            <a:pPr>
              <a:spcBef>
                <a:spcPts val="400"/>
              </a:spcBef>
              <a:defRPr sz="1800" b="0">
                <a:solidFill>
                  <a:srgbClr val="FFFFFF"/>
                </a:solidFill>
              </a:defRPr>
            </a:pPr>
            <a:r>
              <a:t>Process Cyan Banister $50K donation via IONS</a:t>
            </a:r>
          </a:p>
          <a:p>
            <a:pPr>
              <a:spcBef>
                <a:spcPts val="400"/>
              </a:spcBef>
              <a:defRPr sz="1800" b="0">
                <a:solidFill>
                  <a:srgbClr val="FFFFFF"/>
                </a:solidFill>
              </a:defRPr>
            </a:pPr>
            <a:r>
              <a:t>Complete speaker reconfirmation campaign (6 pending, due May 2026)</a:t>
            </a:r>
          </a:p>
          <a:p>
            <a:pPr>
              <a:spcBef>
                <a:spcPts val="400"/>
              </a:spcBef>
              <a:defRPr sz="1800" b="0">
                <a:solidFill>
                  <a:srgbClr val="FFFFFF"/>
                </a:solidFill>
              </a:defRPr>
            </a:pPr>
            <a:r>
              <a:t>Launch registration portal and call for abstracts (target: Jun 2026)</a:t>
            </a:r>
          </a:p>
          <a:p>
            <a:pPr>
              <a:spcBef>
                <a:spcPts val="400"/>
              </a:spcBef>
              <a:defRPr sz="1800" b="0">
                <a:solidFill>
                  <a:srgbClr val="FFFFFF"/>
                </a:solidFill>
              </a:defRPr>
            </a:pPr>
            <a:r>
              <a:t>Continue donor vetting for any new sponsorship prospects</a:t>
            </a:r>
          </a:p>
          <a:p>
            <a:pPr>
              <a:spcBef>
                <a:spcPts val="400"/>
              </a:spcBef>
              <a:defRPr sz="1800" b="0">
                <a:solidFill>
                  <a:srgbClr val="FFFFFF"/>
                </a:solidFill>
              </a:defRPr>
            </a:pPr>
            <a:r>
              <a:t>Secure formal written commitments from UCSD and legacy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AACC"/>
                </a:solidFill>
              </a:defRPr>
            </a:pPr>
            <a:r>
              <a:t>Contact: consciousness@ucsd.edu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