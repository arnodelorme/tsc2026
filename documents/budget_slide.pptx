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0763-6936-6F39-FE4B-639497CAF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21194-BFE5-3D64-0DD6-FAB2A3AF7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A13E-301E-3815-406A-E62C4F73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CF0E8-7614-F9E7-CE2D-CAA1BB29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FB39F-F1E9-24F6-16EF-9DEDBD0C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4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823A-D14A-3C2C-C5C3-71A35A0F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EFB8-645D-8BF3-BA4E-27EAD61A3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D9AE4-5546-4207-1E88-889EFDB4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777D8-FA29-23E1-3949-F7D14A88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FB3C-1ED9-0C3A-A1E8-2B334802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5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0A938-F259-D9A0-10BF-73CB8A27B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444D0-5714-12DC-91D9-5F89DB83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D94DC-8871-9503-6551-58F81934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1B97C-0627-65DE-0C8D-9A93B6BD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A846D-3C7A-7B51-CC78-C6149DE4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0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4C62-558E-CB60-360F-61CD6F37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F1B56-E2DC-5B59-00B3-DAF077A80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708A0-08E6-64BC-2733-7FC9A8794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CCAC0-162D-59CE-7861-56B9EB52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604B2-C0DF-8487-6E78-53E1149A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33E48-5B39-7BEC-BC13-494E2B4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2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1FE3-70AB-FF4D-904C-D28E763D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8D631-8076-1B8E-86EC-D64EB3742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0453D-1FFA-A7F6-62EA-2BABA93B6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FC25C-E0B3-D6E7-6B5C-75CD5F876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86719-227E-D7E1-9DE7-57B9BF308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4E90A-40DA-CE20-282F-DD1148DD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38B4C-0CC6-D3C5-8885-EFAD89BE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1FF79-B74B-0FA6-F11E-8A6C53F7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7ADC-F14D-B8F1-971B-B6DC1AC0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E5707-CA7F-2F46-D12A-33B6C56B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8B3B3-FBC4-7BB3-2AA7-B471C2FA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FCB84-5ADA-6CCE-B7B7-DAC8784F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8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D513A-521D-8740-1E4C-FF3CFAE5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478D1-1DFB-E405-0D34-1AB9C338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8F7B3-1D6C-3D36-3527-25780F6A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32FA3-C17D-82E7-CC76-2E7759B1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72476-E54C-B590-5C60-DFF4B420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88AC0-C553-1AD5-915F-6C170441A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6B46F-CA59-8748-518A-923DBA8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06D7A-66BC-EF0F-2104-0E371B5A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52563-0525-7A1C-BF5D-35AC1BEC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D428-C7D0-BF00-7999-6C39CD4E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F17CF5-ECC5-2D53-C65F-684915CFA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0D0E3-8DD0-58E0-4158-7930B6E69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03E5B-C4B7-8B5F-52DE-654CFC56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D26E3-9529-22A5-4D24-BCCA2C75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0EEE3-72AC-A03F-6F66-1EE86D59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0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9AF5-A623-D4A9-10FE-A087E2AC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48BF9-60FC-B22E-3A7F-8CCA4C619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90011-7CB5-F7B4-244F-8E1BE99F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9B4F-2A7E-6835-3238-83276D1A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D4F8-F631-F137-978F-96E907B4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CC6E9-844A-73C0-DF55-FEBFEED68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59DB8-5C6E-C034-61EC-96FC21975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E0656-16A6-1E5E-3EE5-11C484F7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49172-2DCE-FFDF-B7E2-311A4384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32CBE-23AD-7C03-0FD3-267B9C97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1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AED71-BF8A-841A-88E4-8E4FCFEF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48BC7-317B-7F08-AF75-71D4ACEB1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BC7E5-7D9E-439F-84BC-3EB72A0BF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A23BC-1E25-5743-BD4F-5DD6464641D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13D9-0BAC-9A3C-C5BA-0AB582023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1D1A7-87DF-F99C-CACB-AE364B052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67B43-AF18-844B-8054-5AFF0AF6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4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3185-EBFE-88C0-B3BA-C0F8233F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EA49B-60C3-CEF3-0B27-3AD8DBFE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904" y="0"/>
            <a:ext cx="372813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10DF2D-BFD7-51B4-25A2-4A82F82A081A}"/>
              </a:ext>
            </a:extLst>
          </p:cNvPr>
          <p:cNvSpPr txBox="1"/>
          <p:nvPr/>
        </p:nvSpPr>
        <p:spPr>
          <a:xfrm>
            <a:off x="194738" y="837135"/>
            <a:ext cx="78371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Base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budget breaks even at 550 participants (see right).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worst case scenario with 300 participants results in a $130k deficit.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best case scenario with 800 participants results in a $144k surplus.  </a:t>
            </a:r>
          </a:p>
          <a:p>
            <a:r>
              <a:rPr lang="en-US" dirty="0"/>
              <a:t>(Previous conferences have had about 700 participants.)</a:t>
            </a:r>
          </a:p>
          <a:p>
            <a:endParaRPr lang="en-US" dirty="0"/>
          </a:p>
          <a:p>
            <a:r>
              <a:rPr lang="en-US" b="1" dirty="0"/>
              <a:t>Additional IONS specific optional 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conference could be fully managed by contractor Abi Behar Montefiore. This is included in the budget and priced at $45k for six months.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Optional IONS staff involvement is estimated at $174k in salary.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optional IONS staff conference booth and travel are estimated at $33k.</a:t>
            </a:r>
          </a:p>
          <a:p>
            <a:endParaRPr lang="en-US" dirty="0"/>
          </a:p>
          <a:p>
            <a:r>
              <a:rPr lang="en-US" b="1" dirty="0"/>
              <a:t>Additional potential revenues not included in the budget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Eugene </a:t>
            </a:r>
            <a:r>
              <a:rPr lang="en-US" dirty="0" err="1"/>
              <a:t>Jhong</a:t>
            </a:r>
            <a:r>
              <a:rPr lang="en-US" dirty="0"/>
              <a:t> has pledged to cover up to $200k (email dated 3/12/2026).  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Assuming we receive a $200k donation, even in a worst-case scenario with 330 participants and without additional IONS staff involvement, the conference would still end with an </a:t>
            </a:r>
            <a:r>
              <a:rPr lang="en-US">
                <a:solidFill>
                  <a:srgbClr val="00B050"/>
                </a:solidFill>
              </a:rPr>
              <a:t>estimated $70k </a:t>
            </a:r>
            <a:r>
              <a:rPr lang="en-US" dirty="0">
                <a:solidFill>
                  <a:srgbClr val="00B050"/>
                </a:solidFill>
              </a:rPr>
              <a:t>surplus.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FD24F-6A47-4472-D086-483C23758F83}"/>
              </a:ext>
            </a:extLst>
          </p:cNvPr>
          <p:cNvSpPr txBox="1"/>
          <p:nvPr/>
        </p:nvSpPr>
        <p:spPr>
          <a:xfrm>
            <a:off x="1036747" y="166613"/>
            <a:ext cx="615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Consciousness Science 2026 budget</a:t>
            </a:r>
          </a:p>
        </p:txBody>
      </p:sp>
    </p:spTree>
    <p:extLst>
      <p:ext uri="{BB962C8B-B14F-4D97-AF65-F5344CB8AC3E}">
        <p14:creationId xmlns:p14="http://schemas.microsoft.com/office/powerpoint/2010/main" val="343765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170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Delorme, Arnaud</dc:creator>
  <cp:lastModifiedBy>Delorme, Arnaud</cp:lastModifiedBy>
  <cp:revision>3</cp:revision>
  <dcterms:created xsi:type="dcterms:W3CDTF">2026-03-11T22:34:57Z</dcterms:created>
  <dcterms:modified xsi:type="dcterms:W3CDTF">2026-03-12T18:01:16Z</dcterms:modified>
</cp:coreProperties>
</file>