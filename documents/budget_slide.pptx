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40763-6936-6F39-FE4B-639497CAF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821194-BFE5-3D64-0DD6-FAB2A3AF74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1A13E-301E-3815-406A-E62C4F735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CF0E8-7614-F9E7-CE2D-CAA1BB295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FB39F-F1E9-24F6-16EF-9DEDBD0C3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944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823A-D14A-3C2C-C5C3-71A35A0F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EEFB8-645D-8BF3-BA4E-27EAD61A3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D9AE4-5546-4207-1E88-889EFDB41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777D8-FA29-23E1-3949-F7D14A880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EFB3C-1ED9-0C3A-A1E8-2B3348026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05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0A938-F259-D9A0-10BF-73CB8A27B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9444D0-5714-12DC-91D9-5F89DB835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D94DC-8871-9503-6551-58F81934C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1B97C-0627-65DE-0C8D-9A93B6BD8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A846D-3C7A-7B51-CC78-C6149DE47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104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A4C62-558E-CB60-360F-61CD6F37A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F1B56-E2DC-5B59-00B3-DAF077A808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708A0-08E6-64BC-2733-7FC9A8794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CCCAC0-162D-59CE-7861-56B9EB529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7604B2-C0DF-8487-6E78-53E1149A9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433E48-5B39-7BEC-BC13-494E2B4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2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D1FE3-70AB-FF4D-904C-D28E763DF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18D631-8076-1B8E-86EC-D64EB3742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A0453D-1FFA-A7F6-62EA-2BABA93B6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8FC25C-E0B3-D6E7-6B5C-75CD5F8769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586719-227E-D7E1-9DE7-57B9BF308B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04E90A-40DA-CE20-282F-DD1148DDB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138B4C-0CC6-D3C5-8885-EFAD89BEB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D1FF79-B74B-0FA6-F11E-8A6C53F7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91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67ADC-F14D-B8F1-971B-B6DC1AC07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E5707-CA7F-2F46-D12A-33B6C56BA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38B3B3-FBC4-7BB3-2AA7-B471C2FA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1FCB84-5ADA-6CCE-B7B7-DAC8784F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288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6D513A-521D-8740-1E4C-FF3CFAE5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8478D1-1DFB-E405-0D34-1AB9C338E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8F7B3-1D6C-3D36-3527-25780F6A7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08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32FA3-C17D-82E7-CC76-2E7759B1E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72476-E54C-B590-5C60-DFF4B420D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88AC0-C553-1AD5-915F-6C170441A5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B6B46F-CA59-8748-518A-923DBA83A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A06D7A-66BC-EF0F-2104-0E371B5A8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52563-0525-7A1C-BF5D-35AC1BEC9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86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ED428-C7D0-BF00-7999-6C39CD4E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F17CF5-ECC5-2D53-C65F-684915CFA2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80D0E3-8DD0-58E0-4158-7930B6E69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03E5B-C4B7-8B5F-52DE-654CFC56B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D26E3-9529-22A5-4D24-BCCA2C757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30EEE3-72AC-A03F-6F66-1EE86D59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400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89AF5-A623-D4A9-10FE-A087E2AC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A48BF9-60FC-B22E-3A7F-8CCA4C6193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90011-7CB5-F7B4-244F-8E1BE99F9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69B4F-2A7E-6835-3238-83276D1A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D4F8-F631-F137-978F-96E907B41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60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CC6E9-844A-73C0-DF55-FEBFEED68A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E59DB8-5C6E-C034-61EC-96FC219758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E0656-16A6-1E5E-3EE5-11C484F77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49172-2DCE-FFDF-B7E2-311A4384B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32CBE-23AD-7C03-0FD3-267B9C97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1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EAED71-BF8A-841A-88E4-8E4FCFEF7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48BC7-317B-7F08-AF75-71D4ACEB1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0BC7E5-7D9E-439F-84BC-3EB72A0BFB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6A23BC-1E25-5743-BD4F-5DD6464641D7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C13D9-0BAC-9A3C-C5BA-0AB5820239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1D1A7-87DF-F99C-CACB-AE364B052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967B43-AF18-844B-8054-5AFF0AF66B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341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33185-EBFE-88C0-B3BA-C0F8233F6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310DF2D-BFD7-51B4-25A2-4A82F82A081A}"/>
              </a:ext>
            </a:extLst>
          </p:cNvPr>
          <p:cNvSpPr txBox="1"/>
          <p:nvPr/>
        </p:nvSpPr>
        <p:spPr>
          <a:xfrm>
            <a:off x="194738" y="837135"/>
            <a:ext cx="78371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Base budget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budget breaks even at 500 participants (see right).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worst case scenario with 300 participants results in a $80k surplus.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best case scenario with 800 participants results in a $354k surplus.  </a:t>
            </a:r>
          </a:p>
          <a:p>
            <a:r>
              <a:rPr lang="en-US" dirty="0"/>
              <a:t>(Previous conferences have had about 700 participants.)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9FD24F-6A47-4472-D086-483C23758F83}"/>
              </a:ext>
            </a:extLst>
          </p:cNvPr>
          <p:cNvSpPr txBox="1"/>
          <p:nvPr/>
        </p:nvSpPr>
        <p:spPr>
          <a:xfrm>
            <a:off x="1036747" y="166613"/>
            <a:ext cx="615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Consciousness Science 2026 budget</a:t>
            </a:r>
          </a:p>
        </p:txBody>
      </p:sp>
      <p:pic>
        <p:nvPicPr>
          <p:cNvPr id="3" name="Picture 2" descr="A table with numbers and words&#10;&#10;AI-generated content may be incorrect.">
            <a:extLst>
              <a:ext uri="{FF2B5EF4-FFF2-40B4-BE49-F238E27FC236}">
                <a16:creationId xmlns:a16="http://schemas.microsoft.com/office/drawing/2014/main" id="{E0F05605-4F33-C3E3-D93D-7DC6D99D3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563" y="4431767"/>
            <a:ext cx="3577374" cy="1426004"/>
          </a:xfrm>
          <a:prstGeom prst="rect">
            <a:avLst/>
          </a:prstGeom>
        </p:spPr>
      </p:pic>
      <p:pic>
        <p:nvPicPr>
          <p:cNvPr id="8" name="Picture 7" descr="A spreadsheet with text and numbers&#10;&#10;AI-generated content may be incorrect.">
            <a:extLst>
              <a:ext uri="{FF2B5EF4-FFF2-40B4-BE49-F238E27FC236}">
                <a16:creationId xmlns:a16="http://schemas.microsoft.com/office/drawing/2014/main" id="{F7EBCEC1-940C-2769-A66E-C3A3FBCCE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17" y="0"/>
            <a:ext cx="3340683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3909EF-2D4B-89E0-8F91-653621515D2A}"/>
              </a:ext>
            </a:extLst>
          </p:cNvPr>
          <p:cNvSpPr txBox="1"/>
          <p:nvPr/>
        </p:nvSpPr>
        <p:spPr>
          <a:xfrm>
            <a:off x="194738" y="2870988"/>
            <a:ext cx="76888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Additional IONS specific optional expenses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conference could be fully managed by contractor Abi Behar Montefiore, as she has in the past. This is included in the budget and priced at $45k for six months, starting July 1</a:t>
            </a:r>
            <a:r>
              <a:rPr lang="en-US" baseline="30000" dirty="0"/>
              <a:t>st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Optional IONS staff full production is estimated to requite an additional $209k.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656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111</Words>
  <Application>Microsoft Macintosh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Delorme, Arnaud</dc:creator>
  <cp:lastModifiedBy>Delorme, Arnaud</cp:lastModifiedBy>
  <cp:revision>4</cp:revision>
  <dcterms:created xsi:type="dcterms:W3CDTF">2026-03-11T22:34:57Z</dcterms:created>
  <dcterms:modified xsi:type="dcterms:W3CDTF">2026-03-16T01:57:59Z</dcterms:modified>
</cp:coreProperties>
</file>